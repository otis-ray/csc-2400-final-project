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76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74" r:id="rId10"/>
    <p:sldId id="275" r:id="rId11"/>
    <p:sldId id="270" r:id="rId12"/>
    <p:sldId id="271" r:id="rId13"/>
    <p:sldId id="272" r:id="rId14"/>
    <p:sldId id="27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87BA35-F722-2C83-4D29-C734B7A24121}" v="113" dt="2025-12-01T14:44:38.958"/>
    <p1510:client id="{3C6F2C42-CC04-60CE-28C9-96CAFD5059E7}" v="2320" dt="2025-12-01T05:24:25.123"/>
    <p1510:client id="{655C79B9-9551-6812-B2AC-982940C8AA0B}" v="2375" dt="2025-12-01T07:20:03.955"/>
    <p1510:client id="{9B0BA7E9-E86F-ABFB-5F73-A51A28A60E89}" v="83" dt="2025-12-01T14:44:57.1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E016143-E03C-4CFD-AFDC-14E5BDEA754C}" type="datetimeFigureOut">
              <a:rPr lang="en-US" dirty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495705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4063-DF36-4330-A365-08DA1FA5B7D6}" type="datetimeFigureOut">
              <a:rPr lang="en-US" dirty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471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7C6C-0F39-4D70-8E8D-FE5B9C95FA73}" type="datetimeFigureOut">
              <a:rPr lang="en-US" dirty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57326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A4AC-08CC-42CE-BD01-C191750A04EC}" type="datetimeFigureOut">
              <a:rPr lang="en-US" dirty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35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A723-92A7-435B-B681-F25B092FEFEB}" type="datetimeFigureOut">
              <a:rPr lang="en-US" dirty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531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0639-886C-4FCF-9EAB-ABB5DA3F3F4A}" type="datetimeFigureOut">
              <a:rPr lang="en-US" dirty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375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0651-31F4-45D2-98AE-A2108F41BC07}" type="datetimeFigureOut">
              <a:rPr lang="en-US" dirty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771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3789A-C914-4DB1-8815-80B5EC7335C5}" type="datetimeFigureOut">
              <a:rPr lang="en-US" dirty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145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blipFill>
            <a:blip r:embed="rId2"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440AA-91A0-436F-8FDB-C0F939DCAE21}" type="datetimeFigureOut">
              <a:rPr lang="en-US" dirty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11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3E54A-A8CA-48C1-9504-691B58049D29}" type="datetimeFigureOut">
              <a:rPr lang="en-US" dirty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853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6C806-BBF7-471C-9527-881CE2266695}" type="datetimeFigureOut">
              <a:rPr lang="en-US" dirty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723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E59FD0C-5451-4CA0-86AF-E70AE3279989}" type="datetimeFigureOut">
              <a:rPr lang="en-US" dirty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030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D73BEF1-B97F-E419-5080-B3275BC4C9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71209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Empirical Analysis of Union-Find Structures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D0118720-5E0A-4CB5-A161-748841B02E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59423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John Sutton, Robert Morris, Nolan Schiek, Sawyer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Blanchford</a:t>
            </a: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2173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2D194-43B6-3D3F-3679-5BE3DD8BB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229" y="392974"/>
            <a:ext cx="9692640" cy="1325562"/>
          </a:xfrm>
        </p:spPr>
        <p:txBody>
          <a:bodyPr/>
          <a:lstStyle/>
          <a:p>
            <a:r>
              <a:rPr lang="en-US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B59E8-2379-7B0D-DC22-03E4A3BA1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229" y="1828800"/>
            <a:ext cx="8595360" cy="43513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Why Union-Find Matters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1800"/>
              <a:t>Union-Find tracks which items belong to the same group as the program runs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1800"/>
              <a:t>Essential for algorithms that build or analyze connected components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1800"/>
              <a:t>Appears in major areas:</a:t>
            </a:r>
          </a:p>
          <a:p>
            <a:pPr marL="571500" lvl="1">
              <a:buFont typeface="Courier New" panose="020B0604020202020204" pitchFamily="34" charset="0"/>
              <a:buChar char="o"/>
            </a:pPr>
            <a:r>
              <a:rPr lang="en-US" sz="1600"/>
              <a:t>Kruskal's Minimum Spanning Tree Algorithm</a:t>
            </a:r>
          </a:p>
          <a:p>
            <a:pPr marL="571500" lvl="1">
              <a:buFont typeface="Courier New" panose="020B0604020202020204" pitchFamily="34" charset="0"/>
              <a:buChar char="o"/>
            </a:pPr>
            <a:r>
              <a:rPr lang="en-US" sz="1600"/>
              <a:t>Image Labeling and Segmentation</a:t>
            </a:r>
          </a:p>
          <a:p>
            <a:pPr marL="571500" lvl="1">
              <a:buFont typeface="Courier New" panose="020B0604020202020204" pitchFamily="34" charset="0"/>
              <a:buChar char="o"/>
            </a:pPr>
            <a:r>
              <a:rPr lang="en-US" sz="1600"/>
              <a:t>Percolation &amp; Physics Simulations</a:t>
            </a:r>
          </a:p>
          <a:p>
            <a:pPr marL="571500" lvl="1">
              <a:buFont typeface="Courier New" panose="020B0604020202020204" pitchFamily="34" charset="0"/>
              <a:buChar char="o"/>
            </a:pPr>
            <a:r>
              <a:rPr lang="en-US" sz="1600"/>
              <a:t>Network and Connectivity Analysis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75C1EA-7DB1-4F5E-5DE5-C8BEDE9D4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F0CC6-F0D4-4D87-86A4-41B59BC6619D}" type="datetime1"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7FAEC-27DA-DFFB-98FE-E9028F565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3DD26-75A0-6CC3-226B-4C168E0D1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00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323D6-BBDD-1C1C-CB7F-B18534A65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EFF09-E64E-444B-024F-7C7581899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872" y="383903"/>
            <a:ext cx="9692640" cy="1325562"/>
          </a:xfrm>
        </p:spPr>
        <p:txBody>
          <a:bodyPr/>
          <a:lstStyle/>
          <a:p>
            <a:r>
              <a:rPr lang="en-US"/>
              <a:t>Project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AF21B-3AA7-BDB9-8292-C82AE0642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862" y="1710549"/>
            <a:ext cx="10653579" cy="22648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dirty="0"/>
              <a:t>Objective</a:t>
            </a:r>
            <a:r>
              <a:rPr lang="en-US" dirty="0"/>
              <a:t>:</a:t>
            </a:r>
          </a:p>
          <a:p>
            <a:pPr marL="342900" indent="-342900"/>
            <a:r>
              <a:rPr lang="en-US" dirty="0"/>
              <a:t>Compare two Union-Find implementations:</a:t>
            </a:r>
          </a:p>
          <a:p>
            <a:pPr marL="571500" lvl="1" indent="-342900">
              <a:buFont typeface="Courier New" panose="020B0604020202020204" pitchFamily="34" charset="0"/>
              <a:buChar char="o"/>
            </a:pPr>
            <a:r>
              <a:rPr lang="en-US" dirty="0"/>
              <a:t>List-Based Union-Find using linked lists</a:t>
            </a:r>
          </a:p>
          <a:p>
            <a:pPr marL="571500" lvl="1" indent="-342900">
              <a:buFont typeface="Courier New" panose="020B0604020202020204" pitchFamily="34" charset="0"/>
              <a:buChar char="o"/>
            </a:pPr>
            <a:endParaRPr lang="en-US" dirty="0"/>
          </a:p>
          <a:p>
            <a:pPr marL="571500" lvl="1" indent="-342900">
              <a:buFont typeface="Courier New" panose="020B0604020202020204" pitchFamily="34" charset="0"/>
              <a:buChar char="o"/>
            </a:pPr>
            <a:r>
              <a:rPr lang="en-US" dirty="0"/>
              <a:t>Tree-Based Union-Find using parent pointers</a:t>
            </a:r>
          </a:p>
          <a:p>
            <a:pPr marL="800100" lvl="2" indent="-342900">
              <a:buFont typeface="Wingdings" panose="020B0604020202020204" pitchFamily="34" charset="0"/>
              <a:buChar char="§"/>
            </a:pPr>
            <a:r>
              <a:rPr lang="en-US" dirty="0"/>
              <a:t>Includes enhancements like union-by-size, union-by-rank, and path compression</a:t>
            </a:r>
          </a:p>
          <a:p>
            <a:pPr marL="800100" lvl="2" indent="-342900">
              <a:buFont typeface="Wingdings" panose="020B0604020202020204" pitchFamily="34" charset="0"/>
              <a:buChar char="§"/>
            </a:pPr>
            <a:endParaRPr lang="en-US"/>
          </a:p>
          <a:p>
            <a:pPr marL="457200" lvl="2" indent="0">
              <a:buNone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1DF6B-DB68-D135-7CCF-A54CF5290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F0CC6-F0D4-4D87-86A4-41B59BC6619D}" type="datetime1"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35FB6-0188-C5E4-3545-D312C24C2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B3FC9-1244-0BBC-F3CA-2C9A261B2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B2EC15-8489-D024-02E7-EE2A00A82A60}"/>
              </a:ext>
            </a:extLst>
          </p:cNvPr>
          <p:cNvSpPr txBox="1"/>
          <p:nvPr/>
        </p:nvSpPr>
        <p:spPr>
          <a:xfrm>
            <a:off x="756889" y="3967663"/>
            <a:ext cx="10657267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/>
              <a:t>Goal:</a:t>
            </a:r>
          </a:p>
          <a:p>
            <a:r>
              <a:rPr lang="en-US"/>
              <a:t>  Measure their empirical performance across multiple workloads and input sizes.</a:t>
            </a:r>
          </a:p>
        </p:txBody>
      </p:sp>
    </p:spTree>
    <p:extLst>
      <p:ext uri="{BB962C8B-B14F-4D97-AF65-F5344CB8AC3E}">
        <p14:creationId xmlns:p14="http://schemas.microsoft.com/office/powerpoint/2010/main" val="2387112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915AD-2650-472F-D8B2-04462EBB3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A16E6-A0B1-9A38-5F85-562DDFFFF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943" y="392974"/>
            <a:ext cx="9692640" cy="1325562"/>
          </a:xfrm>
        </p:spPr>
        <p:txBody>
          <a:bodyPr/>
          <a:lstStyle/>
          <a:p>
            <a:r>
              <a:rPr lang="en-US"/>
              <a:t>Union-Find: The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7B791-90F0-33F1-CD83-EA6C9365E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943" y="1828800"/>
            <a:ext cx="8595360" cy="43513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The Three Basic Operations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1800" err="1"/>
              <a:t>MakeSet</a:t>
            </a:r>
            <a:r>
              <a:rPr lang="en-US" sz="1800"/>
              <a:t>(x): creates a new group containing only x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1800"/>
              <a:t>Find(x): returns the "representative" or ID of the group x belongs to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1800"/>
              <a:t>Union(x, y): merges the two groups containing x and y</a:t>
            </a:r>
          </a:p>
          <a:p>
            <a:pPr marL="0" indent="0">
              <a:buNone/>
            </a:pPr>
            <a:r>
              <a:rPr lang="en-US"/>
              <a:t>Correctness Requirements: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1800"/>
              <a:t>Representatives remain consistent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1800"/>
              <a:t>All nodes in a set eventually link to the same root/head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459D64-F30B-3ACE-8D4C-494BC5E65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F0CC6-F0D4-4D87-86A4-41B59BC6619D}" type="datetime1"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3CBDE-86EF-54BE-2403-25FB10BC2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B7C86-AEA2-5027-EC86-F549518A3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202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EB6C4-A163-7A7C-6F0E-E330D2B44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943" y="392974"/>
            <a:ext cx="9692640" cy="1325562"/>
          </a:xfrm>
        </p:spPr>
        <p:txBody>
          <a:bodyPr/>
          <a:lstStyle/>
          <a:p>
            <a:r>
              <a:rPr lang="en-US"/>
              <a:t>List-Based Union-Find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76B5B-398E-2349-01ED-C7DDE9419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943" y="1828800"/>
            <a:ext cx="8595360" cy="43513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Representation:</a:t>
            </a:r>
          </a:p>
          <a:p>
            <a:pPr marL="514350" lvl="1" indent="-285750">
              <a:buFont typeface="Courier New" panose="020B0604020202020204" pitchFamily="34" charset="0"/>
              <a:buChar char="o"/>
            </a:pPr>
            <a:r>
              <a:rPr lang="en-US"/>
              <a:t>Each set stored as a linked list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 Weighted union: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Move Smaller list -&gt; Larger list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find(x) = head[x] is O(1)</a:t>
            </a:r>
          </a:p>
          <a:p>
            <a:pPr marL="0" indent="0">
              <a:buNone/>
            </a:pPr>
            <a:r>
              <a:rPr lang="en-US"/>
              <a:t>Expected Performance:</a:t>
            </a:r>
          </a:p>
          <a:p>
            <a:pPr marL="514350" lvl="1" indent="-285750">
              <a:buFont typeface="Courier New" panose="020B0604020202020204" pitchFamily="34" charset="0"/>
              <a:buChar char="o"/>
            </a:pPr>
            <a:r>
              <a:rPr lang="en-US"/>
              <a:t>Union(x, y) ≈ O(log(n)) amortized</a:t>
            </a:r>
          </a:p>
          <a:p>
            <a:pPr marL="514350" lvl="1" indent="-285750">
              <a:buFont typeface="Courier New" panose="020B0604020202020204" pitchFamily="34" charset="0"/>
              <a:buChar char="o"/>
            </a:pPr>
            <a:r>
              <a:rPr lang="en-US"/>
              <a:t>Total cost ≈ O(m + </a:t>
            </a:r>
            <a:r>
              <a:rPr lang="en-US" err="1"/>
              <a:t>nlog</a:t>
            </a:r>
            <a:r>
              <a:rPr lang="en-US"/>
              <a:t>(n))</a:t>
            </a:r>
          </a:p>
          <a:p>
            <a:pPr marL="0" indent="0">
              <a:buNone/>
            </a:pPr>
            <a:r>
              <a:rPr lang="en-US"/>
              <a:t>Instrumentation:</a:t>
            </a:r>
          </a:p>
          <a:p>
            <a:pPr marL="514350" lvl="1" indent="-285750">
              <a:buFont typeface="Courier New" panose="020B0604020202020204" pitchFamily="34" charset="0"/>
              <a:buChar char="o"/>
            </a:pPr>
            <a:r>
              <a:rPr lang="en-US"/>
              <a:t>Parent pointer updates</a:t>
            </a:r>
          </a:p>
          <a:p>
            <a:pPr marL="514350" lvl="1" indent="-285750">
              <a:buFont typeface="Courier New" panose="020B0604020202020204" pitchFamily="34" charset="0"/>
              <a:buChar char="o"/>
            </a:pPr>
            <a:r>
              <a:rPr lang="en-US"/>
              <a:t>List movement counts</a:t>
            </a:r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37D16-661E-3074-268F-B03E9E573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71B0A-3F85-4174-B926-96DC4DCB9F16}" type="datetime1"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202F4-25CF-CF7E-B1A7-D05C4A752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B17AC-D264-6A2F-F1CE-145220CD6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054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85845-4815-310C-3698-E54733FF1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801" y="392974"/>
            <a:ext cx="9692640" cy="1325562"/>
          </a:xfrm>
        </p:spPr>
        <p:txBody>
          <a:bodyPr/>
          <a:lstStyle/>
          <a:p>
            <a:r>
              <a:rPr lang="en-US"/>
              <a:t>Tree-Based Union-Find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28669-3F1F-18E2-01F0-10ED1B053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801" y="1828800"/>
            <a:ext cx="8595360" cy="43513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Representation: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Parent pointer for each node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Weighted union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Path compression on finds</a:t>
            </a:r>
          </a:p>
          <a:p>
            <a:pPr marL="0" indent="0">
              <a:buNone/>
            </a:pPr>
            <a:r>
              <a:rPr lang="en-US"/>
              <a:t>Expected Performance: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O((n + m) </a:t>
            </a:r>
            <a:r>
              <a:rPr lang="en-US">
                <a:ea typeface="+mn-lt"/>
                <a:cs typeface="+mn-lt"/>
              </a:rPr>
              <a:t>α(n))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α(n) ≤ 4 for all practical input sizes (inverse Ackermann)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Effectively constant time</a:t>
            </a:r>
          </a:p>
          <a:p>
            <a:pPr marL="0" indent="0">
              <a:buNone/>
            </a:pPr>
            <a:r>
              <a:rPr lang="en-US"/>
              <a:t>Instrumentation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Parent pointer updates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Maximum depth &amp; depth distributions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785734-696A-71D0-0581-4809F91CC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022BE-C035-4440-86A9-806E2CE37D48}" type="datetime1"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F304F-E061-FF82-3ED0-2316D088B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450DD-CA75-DD63-D59C-C0FEF52B5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418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4ECD0-2796-1DA9-149E-F3847C042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515" y="392974"/>
            <a:ext cx="9692640" cy="1325562"/>
          </a:xfrm>
        </p:spPr>
        <p:txBody>
          <a:bodyPr/>
          <a:lstStyle/>
          <a:p>
            <a:r>
              <a:rPr lang="en-US"/>
              <a:t>Experiment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37FE8-24BC-CD7D-D5CB-711EA6368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515" y="1828800"/>
            <a:ext cx="8595360" cy="43513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Different Workloads to Test the Structures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1800"/>
              <a:t>Random Workload (50% union / 50% find): Simulates average-case behavior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1800"/>
              <a:t>Random Workload (20% union / 80% find): Simulates more read-heavy scenarios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endParaRPr lang="en-US"/>
          </a:p>
          <a:p>
            <a:pPr marL="0" indent="0">
              <a:buNone/>
            </a:pPr>
            <a:r>
              <a:rPr lang="en-US"/>
              <a:t>Inputs: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1800">
                <a:ea typeface="+mn-lt"/>
                <a:cs typeface="+mn-lt"/>
              </a:rPr>
              <a:t>n ∈ {10k, 50k, 100k, 200k}</a:t>
            </a:r>
            <a:endParaRPr lang="en-US" sz="1800"/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1800">
                <a:ea typeface="+mn-lt"/>
                <a:cs typeface="+mn-lt"/>
              </a:rPr>
              <a:t>m ∈ {n, 5n, 10n}</a:t>
            </a:r>
            <a:endParaRPr lang="en-US" sz="1800"/>
          </a:p>
          <a:p>
            <a:pPr marL="342900" indent="-342900">
              <a:buFont typeface="Calibri" panose="020B0604020202020204" pitchFamily="34" charset="0"/>
              <a:buChar char="-"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DFB02-87CB-9752-ABD7-1BDE23494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32AB0-C94F-4CD5-8A83-7595CE2A7A9E}" type="datetime1"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3BDC7-17C6-8C3E-EF0C-E73678C82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6D8447-BF25-0503-BB15-EF3D780E8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723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22E0D-03E2-13D4-CFB8-72C220279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729" y="365760"/>
            <a:ext cx="9692640" cy="1325562"/>
          </a:xfrm>
        </p:spPr>
        <p:txBody>
          <a:bodyPr/>
          <a:lstStyle/>
          <a:p>
            <a:r>
              <a:rPr lang="en-US"/>
              <a:t>Runtime Results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2D0ECF6-D8BD-76F9-4FF0-A282671438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13723" y="1686890"/>
            <a:ext cx="6040038" cy="395069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9FB0D-4C8F-13F9-90B1-E3B19BF05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E8702-1880-4909-B83B-FAA4576D30D7}" type="datetime1"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8D288-A7B1-0814-74BC-B8CB890E5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D1503-3C66-895C-443F-EAE390469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8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19EAE16-4800-4797-B88F-3107A772A324}"/>
              </a:ext>
            </a:extLst>
          </p:cNvPr>
          <p:cNvSpPr txBox="1">
            <a:spLocks/>
          </p:cNvSpPr>
          <p:nvPr/>
        </p:nvSpPr>
        <p:spPr>
          <a:xfrm>
            <a:off x="612647" y="1705506"/>
            <a:ext cx="4387132" cy="46038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Observations: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1800"/>
              <a:t>Tree-based UF stays nearly flat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1800"/>
              <a:t>List-based UF grows logarithmically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1800"/>
              <a:t>Gap widens as n increases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142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1C5D0-8420-A6E7-1F70-9F661326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19E4B-B723-61C2-BDF3-595A28231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729" y="383903"/>
            <a:ext cx="9692640" cy="1325562"/>
          </a:xfrm>
        </p:spPr>
        <p:txBody>
          <a:bodyPr/>
          <a:lstStyle/>
          <a:p>
            <a:r>
              <a:rPr lang="en-US"/>
              <a:t>Pointer Update Results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61F1829-28CE-AA79-EA66-A86DEFD1C7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81149" y="1725322"/>
            <a:ext cx="5813697" cy="388010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6CBD7-4DA0-248D-1627-A46D15F40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E8702-1880-4909-B83B-FAA4576D30D7}" type="datetime1"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88275-3D9A-2DEF-0BDD-CAFC94AD1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876D5-B29B-658C-D230-60EA3D54A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9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4F936B7-9F6E-F406-4813-A6F5B7DE5F88}"/>
              </a:ext>
            </a:extLst>
          </p:cNvPr>
          <p:cNvSpPr txBox="1">
            <a:spLocks/>
          </p:cNvSpPr>
          <p:nvPr/>
        </p:nvSpPr>
        <p:spPr>
          <a:xfrm>
            <a:off x="612647" y="1705506"/>
            <a:ext cx="4788185" cy="46038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Observations: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1800"/>
              <a:t>List-based pointer updates grow much faster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1800"/>
              <a:t>Tree-based updates remain small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1800"/>
              <a:t>Path compression eliminates repeated long walks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1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42BBA-BB7A-04FA-EA30-F341D7882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E64ED-B474-E492-4961-F682F02EF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729" y="311331"/>
            <a:ext cx="9692640" cy="1325562"/>
          </a:xfrm>
        </p:spPr>
        <p:txBody>
          <a:bodyPr/>
          <a:lstStyle/>
          <a:p>
            <a:r>
              <a:rPr lang="en-US"/>
              <a:t>Adversarial Behavior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30958-98BC-D731-0FCD-EBA32B1C0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E8702-1880-4909-B83B-FAA4576D30D7}" type="datetime1"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9E726-6A22-73BE-90F7-23CCEB5B0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03B33-A253-8BE5-8320-C8A42A00A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10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F6D91D9-0361-C48C-1BB9-BD3EADABC8D7}"/>
              </a:ext>
            </a:extLst>
          </p:cNvPr>
          <p:cNvSpPr txBox="1">
            <a:spLocks/>
          </p:cNvSpPr>
          <p:nvPr/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Adversarial Workload: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1800"/>
              <a:t>Sequential unions(0-1, 1-2, 2-3, …)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1800"/>
              <a:t>Forces deepest possible structure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1800"/>
              <a:t>Useful for exposing worst-case behavior</a:t>
            </a:r>
          </a:p>
          <a:p>
            <a:pPr marL="0" indent="0">
              <a:buNone/>
            </a:pPr>
            <a:r>
              <a:rPr lang="en-US"/>
              <a:t>Results (Runtime):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1800"/>
              <a:t>List-Based UF becomes very slow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1800"/>
              <a:t>Tree-Based UF remains unaffected and fast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1800"/>
              <a:t>Path compression immediately flattens chains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endParaRPr lang="en-US"/>
          </a:p>
        </p:txBody>
      </p:sp>
      <p:pic>
        <p:nvPicPr>
          <p:cNvPr id="3" name="Picture 2" descr="A graph with a line&#10;&#10;AI-generated content may be incorrect.">
            <a:extLst>
              <a:ext uri="{FF2B5EF4-FFF2-40B4-BE49-F238E27FC236}">
                <a16:creationId xmlns:a16="http://schemas.microsoft.com/office/drawing/2014/main" id="{2AAA3694-9A68-3BE7-5B85-058F9F404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629" y="1779587"/>
            <a:ext cx="5009243" cy="3298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965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9C2B4-A454-1C1D-4506-A850F0992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158" y="392974"/>
            <a:ext cx="9692640" cy="1325562"/>
          </a:xfrm>
        </p:spPr>
        <p:txBody>
          <a:bodyPr/>
          <a:lstStyle/>
          <a:p>
            <a:r>
              <a:rPr lang="en-US"/>
              <a:t>Application Benchmark: G(n, 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84DD5-632B-6327-014B-A460E9FF6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158" y="1828800"/>
            <a:ext cx="5136282" cy="434131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Real-World Graph Workload: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1800"/>
              <a:t>Build connectivity structure in </a:t>
            </a:r>
            <a:r>
              <a:rPr lang="en-US" sz="1800">
                <a:ea typeface="+mn-lt"/>
                <a:cs typeface="+mn-lt"/>
              </a:rPr>
              <a:t>Erdős–Rényi G(</a:t>
            </a:r>
            <a:r>
              <a:rPr lang="en-US" sz="1800" err="1">
                <a:ea typeface="+mn-lt"/>
                <a:cs typeface="+mn-lt"/>
              </a:rPr>
              <a:t>n,p</a:t>
            </a:r>
            <a:r>
              <a:rPr lang="en-US" sz="1800">
                <a:ea typeface="+mn-lt"/>
                <a:cs typeface="+mn-lt"/>
              </a:rPr>
              <a:t>)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1800"/>
              <a:t>Perform random connectivity queries</a:t>
            </a:r>
          </a:p>
          <a:p>
            <a:pPr marL="0" indent="0">
              <a:buNone/>
            </a:pPr>
            <a:r>
              <a:rPr lang="en-US"/>
              <a:t>Results: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1800">
                <a:ea typeface="+mn-lt"/>
                <a:cs typeface="+mn-lt"/>
              </a:rPr>
              <a:t>Tree-based UF ≈ 2–3× faster</a:t>
            </a:r>
            <a:endParaRPr lang="en-US" sz="1800"/>
          </a:p>
          <a:p>
            <a:pPr>
              <a:buFont typeface="Calibri" panose="020B0604020202020204" pitchFamily="34" charset="0"/>
              <a:buChar char="-"/>
            </a:pPr>
            <a:r>
              <a:rPr lang="en-US" sz="1800">
                <a:ea typeface="+mn-lt"/>
                <a:cs typeface="+mn-lt"/>
              </a:rPr>
              <a:t>List-based UF slows noticeably as n increases</a:t>
            </a:r>
            <a:endParaRPr lang="en-US" sz="1800"/>
          </a:p>
          <a:p>
            <a:pPr>
              <a:buFont typeface="Calibri" panose="020B0604020202020204" pitchFamily="34" charset="0"/>
              <a:buChar char="-"/>
            </a:pPr>
            <a:r>
              <a:rPr lang="en-US" sz="1800">
                <a:ea typeface="+mn-lt"/>
                <a:cs typeface="+mn-lt"/>
              </a:rPr>
              <a:t>Both remain correct</a:t>
            </a:r>
            <a:endParaRPr lang="en-US" sz="1800"/>
          </a:p>
          <a:p>
            <a:pPr>
              <a:buFont typeface="Calibri" panose="020B0604020202020204" pitchFamily="34" charset="0"/>
              <a:buChar char="-"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61865-7015-284E-2C14-A1F205A67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D26F7-8CE4-4AB1-B4BF-2B2353728FD7}" type="datetime1"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A1874-AE47-0CE8-2306-2A4B95514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905B5-1C3C-C7E8-9B48-0517DC482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11</a:t>
            </a:fld>
            <a:endParaRPr lang="en-US"/>
          </a:p>
        </p:txBody>
      </p:sp>
      <p:pic>
        <p:nvPicPr>
          <p:cNvPr id="7" name="Picture 6" descr="A graph of different types of workloads&#10;&#10;AI-generated content may be incorrect.">
            <a:extLst>
              <a:ext uri="{FF2B5EF4-FFF2-40B4-BE49-F238E27FC236}">
                <a16:creationId xmlns:a16="http://schemas.microsoft.com/office/drawing/2014/main" id="{E19E55BC-D8BB-BF74-6A91-9DAA54F34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2415" y="1710740"/>
            <a:ext cx="5479381" cy="3677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8273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94C20-4BAD-CA31-9204-11273E52A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515" y="374831"/>
            <a:ext cx="9692640" cy="1325562"/>
          </a:xfrm>
        </p:spPr>
        <p:txBody>
          <a:bodyPr/>
          <a:lstStyle/>
          <a:p>
            <a:r>
              <a:rPr lang="en-US"/>
              <a:t>Interpretation &amp;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86E56-C689-02F9-6286-B3277236E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515" y="1837871"/>
            <a:ext cx="8595360" cy="43513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What the experiments taught us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Tree-Based UF is effectively constant time under all tested </a:t>
            </a:r>
            <a:r>
              <a:rPr lang="en-US" err="1"/>
              <a:t>workloadds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List-Based UF grows nearly exactly as theoretical analysis predicts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Path compression is the most important optimization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Union-by-rank vs union-by-size shows minimal differences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Empirical results line up extremely well with theory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E7336-CFA5-1316-0D21-38034C1EE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97481-9075-4050-AD8D-DEF819DE97B1}" type="datetime1"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43FFD-1A85-CBD0-8872-8F7243B8F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637C4-9FF1-6143-D896-3248DE312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838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521A0-9B5D-42AB-A122-32D7AC2A1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515" y="365760"/>
            <a:ext cx="9692640" cy="1325562"/>
          </a:xfrm>
        </p:spPr>
        <p:txBody>
          <a:bodyPr/>
          <a:lstStyle/>
          <a:p>
            <a:r>
              <a:rPr lang="en-US"/>
              <a:t>Limitations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6C204-3193-591A-766B-E269366DD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515" y="1828800"/>
            <a:ext cx="8595360" cy="43513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Limitations: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1800"/>
              <a:t>Python overhead affects timings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1800"/>
              <a:t>No memory usage profiling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1800"/>
              <a:t>Adversarial pointer updates incomplete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1800"/>
              <a:t>Only one application benchmark tested</a:t>
            </a:r>
          </a:p>
          <a:p>
            <a:pPr marL="0" indent="0">
              <a:buNone/>
            </a:pPr>
            <a:r>
              <a:rPr lang="en-US"/>
              <a:t>Future Work: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1800"/>
              <a:t>Implement different language versions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1800"/>
              <a:t>Add memory tracking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1800"/>
              <a:t>Evaluate more heuristics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1800"/>
              <a:t>Larger-scale experiments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C85A1-A2CD-D747-603B-D476551E5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ED7C3-2747-4D85-8217-078F141FD1D9}" type="datetime1"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F0EBF-D76B-84D3-2EC7-2B3F2ACB6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AC1CD-CCE0-A142-99D3-20042E78D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455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79C42-0FB4-8630-72FA-4439FD040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372" y="347617"/>
            <a:ext cx="9692640" cy="1325562"/>
          </a:xfrm>
        </p:spPr>
        <p:txBody>
          <a:bodyPr/>
          <a:lstStyle/>
          <a:p>
            <a:r>
              <a:rPr lang="en-US"/>
              <a:t>Contributions &amp;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57860-6379-20A7-4E7E-4207A62B4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372" y="1810657"/>
            <a:ext cx="8595360" cy="43513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/>
              <a:t>John Sutton</a:t>
            </a:r>
            <a:r>
              <a:rPr lang="en-US"/>
              <a:t> – </a:t>
            </a:r>
            <a:r>
              <a:rPr lang="en-US" sz="1800"/>
              <a:t>Produced graphs in R, interpreted results, prepared the final report and presentation.</a:t>
            </a:r>
            <a:endParaRPr lang="en-US"/>
          </a:p>
          <a:p>
            <a:pPr marL="0" indent="0">
              <a:buNone/>
            </a:pPr>
            <a:r>
              <a:rPr lang="en-US" sz="1800"/>
              <a:t>Nolan Schiek – Interpreted results and findings, prepared the final report and presentation</a:t>
            </a:r>
          </a:p>
          <a:p>
            <a:pPr marL="0" indent="0">
              <a:buNone/>
            </a:pPr>
            <a:r>
              <a:rPr lang="en-US" sz="1800"/>
              <a:t>Sawyer </a:t>
            </a:r>
            <a:r>
              <a:rPr lang="en-US" sz="1800" err="1"/>
              <a:t>Blanchford</a:t>
            </a:r>
            <a:r>
              <a:rPr lang="en-US" sz="1800"/>
              <a:t> - Produced code for experiments in Python, assisted in final report preparation</a:t>
            </a:r>
          </a:p>
          <a:p>
            <a:pPr marL="0" indent="0">
              <a:buNone/>
            </a:pPr>
            <a:r>
              <a:rPr lang="en-US" sz="1800"/>
              <a:t>Robert Morris – Assisted in production of final report. 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3CD8D-7F0C-DCE2-5B19-015BFAE8D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2DEFB-5828-4EBB-88C7-7696CD26A6FA}" type="datetime1"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983E5-4B65-30F0-300C-F3062E51A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01D16-8822-306A-7F6A-FD3F0914F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197246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View</vt:lpstr>
      <vt:lpstr>Empirical Analysis of Union-Find Structures</vt:lpstr>
      <vt:lpstr>Motivation</vt:lpstr>
      <vt:lpstr>Project Goal</vt:lpstr>
      <vt:lpstr>Union-Find: The Operations</vt:lpstr>
      <vt:lpstr>List-Based Union-Find</vt:lpstr>
      <vt:lpstr>Tree-Based Union-Find</vt:lpstr>
      <vt:lpstr>Experiment Design</vt:lpstr>
      <vt:lpstr>Runtime Results</vt:lpstr>
      <vt:lpstr>Pointer Update Results</vt:lpstr>
      <vt:lpstr>Adversarial Behavior</vt:lpstr>
      <vt:lpstr>Application Benchmark: G(n, p)</vt:lpstr>
      <vt:lpstr>Interpretation &amp; Takeaways</vt:lpstr>
      <vt:lpstr>Limitations &amp; Future Work</vt:lpstr>
      <vt:lpstr>Contributions &amp;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Sawyer Blanchford</dc:creator>
  <cp:revision>95</cp:revision>
  <dcterms:created xsi:type="dcterms:W3CDTF">2025-11-30T14:11:41Z</dcterms:created>
  <dcterms:modified xsi:type="dcterms:W3CDTF">2025-12-01T14:46:01Z</dcterms:modified>
</cp:coreProperties>
</file>